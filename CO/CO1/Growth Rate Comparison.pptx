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JetBrains Mono SemiBold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  <p:embeddedFont>
      <p:font typeface="JetBrains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F5EFEB-7145-47B0-B561-F23603A2525E}">
  <a:tblStyle styleId="{42F5EFEB-7145-47B0-B561-F23603A252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JetBrainsMonoSemiBold-bold.fntdata"/><Relationship Id="rId23" Type="http://schemas.openxmlformats.org/officeDocument/2006/relationships/font" Target="fonts/JetBrainsMono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SemiBold-boldItalic.fntdata"/><Relationship Id="rId25" Type="http://schemas.openxmlformats.org/officeDocument/2006/relationships/font" Target="fonts/JetBrainsMonoSemiBold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regular.fntdata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italic.fntdata"/><Relationship Id="rId10" Type="http://schemas.openxmlformats.org/officeDocument/2006/relationships/slide" Target="slides/slide4.xml"/><Relationship Id="rId32" Type="http://schemas.openxmlformats.org/officeDocument/2006/relationships/font" Target="fonts/JetBrains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JetBrainsMono-boldItalic.fntdata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1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3894683"/>
            <a:ext cx="904875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45406" y="1639341"/>
            <a:ext cx="9501187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Growth Rate Comparison</a:t>
            </a: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Using Visualization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3154715"/>
            <a:ext cx="6667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 analytical breakdown of O(n), O(n log n), and O(n²) time complexities, defining input assumptions, dominance parameters, and algorithmic selection.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571625" y="4285208"/>
            <a:ext cx="4238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Course Name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Design and Analysis of Algorithms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381750" y="4285208"/>
            <a:ext cx="423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Course Code</a:t>
            </a:r>
            <a:r>
              <a:rPr lang="en-US"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CSA0624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571625" y="4847183"/>
            <a:ext cx="423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Presenter Name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Karthikeyan. 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381750" y="4847183"/>
            <a:ext cx="423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Registration Number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00"/>
              <a:t>192425072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71737"/>
            <a:ext cx="50863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3214687"/>
            <a:ext cx="43053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5" y="2045344"/>
            <a:ext cx="53406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Time Complexity &amp; Big-O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2321569"/>
            <a:ext cx="50863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Big-O notation describes the upper bound of an algorithm's running time as the input size (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) approaches infinity, allowing us to evaluate performance regardless of hardware speed.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71525" y="3338661"/>
            <a:ext cx="53406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Three Core Functions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3614886"/>
            <a:ext cx="5086350" cy="1950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O(n) - Linear Time: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Processing time grows directly in proportion to the input size.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O(n log n) - Linearithmic Time: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Commonly found in efficient divide-and-conquer algorithms.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O(n²) - Quadratic Time: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Time grows exponentially relative to the input, typical in nested iterative loops.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24650" y="2862262"/>
            <a:ext cx="4305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ASSUMPTIONS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162800" y="3414712"/>
            <a:ext cx="36671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'n'</a:t>
            </a: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represents the total size of the input data structure (e.g., array length).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62800" y="3890962"/>
            <a:ext cx="36671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single algorithmic operation takes </a:t>
            </a: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 unit</a:t>
            </a: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of constant time to execute.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200900" y="4367212"/>
            <a:ext cx="301659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 evaluate worst-case scenarios as </a:t>
            </a: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 → ∞</a:t>
            </a: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7250" y="920238"/>
            <a:ext cx="111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Introduction &amp; Asymptotic Notation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71525" y="952500"/>
            <a:ext cx="38100" cy="3048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71525" y="2056507"/>
            <a:ext cx="10648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By inputting exact values for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into our three complexity classes, we can observe the massive divergence in computational cost as the dataset scales from small to enterprise levels.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71525" y="2963167"/>
            <a:ext cx="10648950" cy="2590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15"/>
          <p:cNvGraphicFramePr/>
          <p:nvPr/>
        </p:nvGraphicFramePr>
        <p:xfrm>
          <a:off x="771525" y="2963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{42F5EFEB-7145-47B0-B561-F23603A2525E}</a:tableStyleId>
              </a:tblPr>
              <a:tblGrid>
                <a:gridCol w="2174525"/>
                <a:gridCol w="2512675"/>
                <a:gridCol w="2861075"/>
                <a:gridCol w="30911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Input Size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O(n)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Linear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O(n log n)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Linearithmic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O(n²)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5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Quadratic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 = 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≈ 33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 =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≈ 664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10,000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 = 1,000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1,000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≈ 9,965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1,000,000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 = 10,000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10,000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≈ 132,877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100,000,000 operations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5"/>
          <p:cNvSpPr/>
          <p:nvPr/>
        </p:nvSpPr>
        <p:spPr>
          <a:xfrm>
            <a:off x="776287" y="3596580"/>
            <a:ext cx="2174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950815" y="3596580"/>
            <a:ext cx="2512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463480" y="3596580"/>
            <a:ext cx="28610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324552" y="3596580"/>
            <a:ext cx="309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76287" y="4082355"/>
            <a:ext cx="2174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950815" y="4082355"/>
            <a:ext cx="2512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463480" y="4082355"/>
            <a:ext cx="28610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324552" y="4082355"/>
            <a:ext cx="309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76287" y="4568130"/>
            <a:ext cx="2174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950815" y="4568130"/>
            <a:ext cx="2512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463480" y="4568130"/>
            <a:ext cx="28610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324552" y="4568130"/>
            <a:ext cx="309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76287" y="5053905"/>
            <a:ext cx="2174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950815" y="5053905"/>
            <a:ext cx="2512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463480" y="5053905"/>
            <a:ext cx="28610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324552" y="5053905"/>
            <a:ext cx="309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918425" y="920238"/>
            <a:ext cx="111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Tabulating Growth Rates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71525" y="952500"/>
            <a:ext cx="38100" cy="3048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333500"/>
            <a:ext cx="5133975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33500"/>
            <a:ext cx="5133975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415504" y="1724025"/>
            <a:ext cx="44044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Optimal Selections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066800" y="2105025"/>
            <a:ext cx="4543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882854" y="1724025"/>
            <a:ext cx="44544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Limitations &amp; Caveats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6581775" y="2105025"/>
            <a:ext cx="4543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1743075"/>
            <a:ext cx="23440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333500" y="2343150"/>
            <a:ext cx="42767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O(n) Scaling Power: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Extremely efficient for simple traversals, searching, or mapping. Highly scalable, but very few complex tasks (like sorting) can be solved in pure linear time.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333500" y="3076575"/>
            <a:ext cx="42767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O(n log n) The Sweet Spot: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The definitive theoretical limit for comparison-based sorting (Merge Sort, Quick Sort). Perfectly balances computational load for massive databases.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1743075"/>
            <a:ext cx="18677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6848475" y="2343150"/>
            <a:ext cx="42767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O(n²) System Overload: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While algorithms like Bubble Sort or nested iterations are easy to code, they scale terribly. An input of just 100,000 items requires 10 billion operations, causing system freezes.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848475" y="3257550"/>
            <a:ext cx="42767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Hidden Constants: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For extremely small values of </a:t>
            </a:r>
            <a:r>
              <a:rPr b="0" i="1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(e.g., n &lt; 10), an O(n²) algorithm might actually run faster than an O(n log n) algorithm due to lower overhead/constant factors.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62550" y="920250"/>
            <a:ext cx="111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Algorithm Selection Insights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71525" y="952500"/>
            <a:ext cx="38100" cy="3048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3622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30956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236220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3276600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333500"/>
            <a:ext cx="50863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33500"/>
            <a:ext cx="50863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1343025"/>
            <a:ext cx="50673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343025"/>
            <a:ext cx="50673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781050" y="1724025"/>
            <a:ext cx="5067300" cy="4543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971550" y="1914525"/>
            <a:ext cx="46863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O(n) Linear Time - Simple Array Traversal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void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linearSearch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arr[],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n,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target) {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for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 =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 &lt; n; i++) {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if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(arr[i] == target)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return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 }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O(n log n) Linearithmic Time - Merge Sort</a:t>
            </a:r>
            <a:endParaRPr b="0" i="1" sz="975" u="none" cap="none" strike="noStrike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void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75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mergeSort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arr[],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left,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right) {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if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(left &lt; right) {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mid = left + (right - left) /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1" lang="en-US" sz="97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Divide phase (log n depth)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mergeSort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(arr, left, mid); </a:t>
            </a:r>
            <a:r>
              <a:rPr b="0" i="0" lang="en-US" sz="975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mergeSort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(arr, mid +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right);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1" lang="en-US" sz="97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Conquer/Merge phase (n operations per level)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merge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(arr, left, mid, right); } }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343650" y="1724025"/>
            <a:ext cx="5067300" cy="4543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534150" y="1914525"/>
            <a:ext cx="4686300" cy="23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void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75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bubbleSort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arr[],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n) { </a:t>
            </a:r>
            <a:endParaRPr b="0" i="1" sz="975" u="none" cap="none" strike="noStrike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for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 =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i &lt; n -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i++)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endParaRPr b="0" i="1" sz="975" u="none" cap="none" strike="noStrike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for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j =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j &lt; n - i -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j++) {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if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(arr[j] &gt; arr[j +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 {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Swap elements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946E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int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temp = arr[j]; arr[j] = arr[j +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]; 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arr[j + </a:t>
            </a:r>
            <a:r>
              <a:rPr b="0" i="0" lang="en-US" sz="975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temp; }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b="0" i="0" sz="975" u="none" cap="none" strike="noStrike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352925" y="1457325"/>
            <a:ext cx="13430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Efficient_Algorithms.cpp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820275" y="1457325"/>
            <a:ext cx="14382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Inefficient_Algorithms.cpp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933450" y="14716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5F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123950" y="14716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BD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314450" y="14716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7C9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496050" y="14716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5F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686550" y="14716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BD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877050" y="14716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7C9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962550" y="920238"/>
            <a:ext cx="111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Code &amp; Structural Signatures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771525" y="952500"/>
            <a:ext cx="38100" cy="3048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333500"/>
            <a:ext cx="1064895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1010700" y="920238"/>
            <a:ext cx="111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Graphical Visualization of Growth Rates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771525" y="952500"/>
            <a:ext cx="38100" cy="3048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0843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32050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5667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217006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2305050" y="2065287"/>
            <a:ext cx="848106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Concept of Dominance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2305050" y="2341512"/>
            <a:ext cx="8077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When analyzing growth,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O(n²) completely dominates O(n log n) and O(n)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 This means that as </a:t>
            </a:r>
            <a:r>
              <a:rPr b="0" i="1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scales to infinity, the quadratic term grows so violently that lower-order functions become statistically negligible in performance comparisons.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95475" y="3406229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2305050" y="3301454"/>
            <a:ext cx="848106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Justification of Algorithm Failure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2305050" y="3577679"/>
            <a:ext cx="8077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Our tabular and graphical data prove that O(n²) algorithms hit a "computation wall." A quadratic algorithm handling 1,000,000 database entries requires 1 trillion operations, whereas O(n log n) processes the same data in roughly 20 million operations—a life-saving difference in software engineering.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05000" y="4642395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2305050" y="4537620"/>
            <a:ext cx="848106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Insights for Algorithm Selection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2305050" y="4813845"/>
            <a:ext cx="8077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 small datasets, developer implementation speed often overrides big-O efficiency (e.g., using a quick Bubble Sort). However, for any production-level system anticipating scalable data, standardizing on O(n log n) algorithms (Merge/Heap sort) is an absolute architectural requirement.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54925" y="920238"/>
            <a:ext cx="111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 &amp; Dominance Analysis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771525" y="952500"/>
            <a:ext cx="38100" cy="3048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4701141" y="2270819"/>
            <a:ext cx="2789567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748212" y="3139380"/>
            <a:ext cx="2695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Open Discussion &amp; 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